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85455" y="-1097280"/>
            <a:ext cx="4206240" cy="420624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640080" y="868680"/>
            <a:ext cx="1005840" cy="1005840"/>
          </a:xfrm>
          <a:prstGeom prst="hexag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5B4FC"/>
                </a:solidFill>
                <a:latin typeface="Segoe UI"/>
              </a:rPr>
              <a:t>DYNAMICS PRO  ·  APPLICATION LIFECYCLE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Solution Administration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BD5E1"/>
                </a:solidFill>
                <a:latin typeface="Segoe UI"/>
              </a:rPr>
              <a:t>Das ALM-Cockpit für Microsoft Dynamics 365 &amp; Power Platform — Solutions verwalten, validieren und betreiben. In einer Konsole, direkt in Ihrer Umgebung.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39BF7"/>
                </a:solidFill>
                <a:latin typeface="Segoe UI"/>
              </a:rPr>
              <a:t>Manage  ·  Validate  ·  Operate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AUSGANGSLAGE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>
                <a:solidFill>
                  <a:srgbClr val="0F172A"/>
                </a:solidFill>
                <a:latin typeface="Segoe UI"/>
              </a:rPr>
              <a:t>Dynamics-365-ALM </a:t>
            </a:r>
            <a:r>
              <a:rPr sz="2400" b="1" dirty="0" err="1">
                <a:solidFill>
                  <a:srgbClr val="0F172A"/>
                </a:solidFill>
                <a:latin typeface="Segoe UI"/>
              </a:rPr>
              <a:t>ist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Segoe UI"/>
              </a:rPr>
              <a:t>Handarbeit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 — und </a:t>
            </a:r>
            <a:r>
              <a:rPr sz="2400" b="1" dirty="0" err="1">
                <a:solidFill>
                  <a:srgbClr val="0F172A"/>
                </a:solidFill>
                <a:latin typeface="Segoe UI"/>
              </a:rPr>
              <a:t>teuer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, </a:t>
            </a:r>
            <a:r>
              <a:rPr sz="2400" b="1" dirty="0" err="1">
                <a:solidFill>
                  <a:srgbClr val="0F172A"/>
                </a:solidFill>
                <a:latin typeface="Segoe UI"/>
              </a:rPr>
              <a:t>wenn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 es </a:t>
            </a:r>
            <a:r>
              <a:rPr sz="2400" b="1" dirty="0" err="1">
                <a:solidFill>
                  <a:srgbClr val="0F172A"/>
                </a:solidFill>
                <a:latin typeface="Segoe UI"/>
              </a:rPr>
              <a:t>schiefgeht</a:t>
            </a:r>
            <a:endParaRPr sz="240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27751" cy="17373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20823"/>
            <a:ext cx="44450" cy="144475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399"/>
            <a:ext cx="4870551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⚠  Deployments scheitern spät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Fehlende Abhängigkeiten, ungebundene Connection References, leere Environment-Variablen — sichtbar erst beim Import in UAT/PROD.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1874519"/>
            <a:ext cx="5327751" cy="17373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23863" y="2020823"/>
            <a:ext cx="44450" cy="14447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9895" y="2057399"/>
            <a:ext cx="4870551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🧩  Tool-Wildwuchs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Maker-Portal, XrmToolBox, PowerShell-Skripte, Excel-Listen. Wissen verteilt, nichts reproduzierbar.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9623"/>
            <a:ext cx="5327751" cy="17373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995927"/>
            <a:ext cx="44450" cy="14447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032503"/>
            <a:ext cx="4870551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🔀  Keine Umgebungs-Transparenz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DEV, UAT und PROD driften auseinander. Was fehlt wo? Niemand sieht es auf einen Blick.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3849623"/>
            <a:ext cx="5327751" cy="17373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23863" y="3995927"/>
            <a:ext cx="44450" cy="144475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9895" y="4032503"/>
            <a:ext cx="4870551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🌫  Betrieb im Blindflug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Wer hat welche Rolle? Läuft der nächtliche Sync? Warum ist der Import fehlgeschlagen? Antworten dauern Stunden.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5B4FC"/>
                </a:solidFill>
                <a:latin typeface="Segoe UI"/>
              </a:rPr>
              <a:t>WAS DAS KOSTET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Ein fehlgeschlagener PROD-Import kostet
einen Abend.
Ein Pre-Flight-Check zehn Sekunden.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3484778" cy="18288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3484778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4343400"/>
            <a:ext cx="302757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Späte Fehler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0C7D9"/>
                </a:solidFill>
                <a:latin typeface="Segoe UI"/>
              </a:rPr>
              <a:t>kosten das Vielfache eines früh erkannten — Rollback, Nachtarbeit, verschobene Go-Lives.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3458" y="4114800"/>
            <a:ext cx="3484778" cy="18288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3458" y="4114800"/>
            <a:ext cx="3484778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9490" y="4343400"/>
            <a:ext cx="302757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Fragmentierte Prozesse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0C7D9"/>
                </a:solidFill>
                <a:latin typeface="Segoe UI"/>
              </a:rPr>
              <a:t>binden Ihre teuersten Leute an repetitive, fehleranfällige Klickstrecken.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4114800"/>
            <a:ext cx="3484778" cy="18288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66836" y="4114800"/>
            <a:ext cx="3484778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2868" y="4343400"/>
            <a:ext cx="302757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Fehlende Transparenz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0C7D9"/>
                </a:solidFill>
                <a:latin typeface="Segoe UI"/>
              </a:rPr>
              <a:t>führt zu Überraschungen genau dann, wenn Zeitdruck am höchsten ist: beim Release.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DIE LÖSUNG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Eine Konsole für den gesamten Solution-Lifecycle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Die Solution Administration Console bündelt den kompletten ALM-Weg — vom Feature-Merge über den Pre-Flight-Check bis zum laufenden Betrieb — in drei klaren Bereichen. Statt fünf Tools ein Cockpit.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3466490" cy="192024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935224"/>
            <a:ext cx="44450" cy="16276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3009290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①  Manage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Der Release-Zug: Working Solutions, regelbasiertes Merge, Release Notes,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2788920"/>
            <a:ext cx="3466490" cy="192024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2602" y="2935224"/>
            <a:ext cx="44450" cy="16276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8634" y="2971800"/>
            <a:ext cx="3009290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②  Validate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Pre-Flight vor jedem Deployment: Dependency-Check, Risk-Score, Env-Config, Import-Historie.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5124" y="2788920"/>
            <a:ext cx="3466490" cy="192024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85124" y="2935224"/>
            <a:ext cx="44450" cy="16276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1156" y="2971800"/>
            <a:ext cx="3009290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③  Operate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Betrieb im Blick: Plugin-Traces, Job- &amp; Flow-Monitor, Security-Rollen-Analyse.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A34A"/>
                </a:solidFill>
                <a:latin typeface="Segoe UI"/>
              </a:rPr>
              <a:t>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Läuft in Ihrer Umgebung — Governance eingebaut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20823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▣  Power Apps Code App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Läuft als App direkt in Ihrem Dataverse-Environment. Keine externe Infrastruktur, keine Datenabflüsse, kein Hosting.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2602" y="2020823"/>
            <a:ext cx="44450" cy="1581911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8634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🔎  Reads über den Konnektor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Lesen als Service Principal über den Dataverse-Konnektor — cross-environment, ohne neue Data 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5124" y="2020823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1156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✔  Writes als angemeldeter User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Schreibaktionen laufen als der eingeloggte Nutzer: Dataverse erzwingt Rechte pro Person, sauberer Audit-Trail.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33086"/>
            <a:ext cx="44450" cy="1581911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🔀  Cross-Environment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DEV / UAT / PROD nebeneinander, gematcht über import-stabile Namen statt fragiler GUIDs.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62602" y="4133086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🔒  Rollen-Gating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Sensible Aktionen sind an Security-Rollen gebunden — read-only für alle, Änderungen nur für Berechtigte.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5124" y="4133086"/>
            <a:ext cx="44450" cy="158191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1156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⚙  Mandantenfähig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Konfiguration in Dataverse-Tabellen. Pro Kunde/Umgebung anpassbar, ohne Code-Änderung.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BEREICH 1 — 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Der Release-Zug, regelbasiert und nachvollziehbar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20823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🧰  Workbench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Working Solutions verwalten, verknüpft mit DevOps-Work-Items und Deployment-Status.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2602" y="2020823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8634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⇉  Merge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Feature- &amp; Bug-Solutions regelbasiert in die Release-Solution zusammenführen — die rohe Komponenten-Mitgliedschaft, nichts geht verloren.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5124" y="2020823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1156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⚙  Merge Rules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Pro Release erlaubte/ausgeschlossene Komponententypen definieren — der Merge-Plan respektiert sie automatisch.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33086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📝  Release Notes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Aus der Merge-Historie generiert: enthaltene Solutions, Komponenten, DevOps-Links. Versioniert veröffentlichen.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62602" y="4133086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🕘  Timeline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„Was ging wann wohin?" — Merges, veröffentlichte Notes und Importe je Umgebung auf einem Zeitstrahl.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5124" y="4133086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1156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📜  Merge-Historie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Jeder Merge protokolliert: Counts, Quellen und die exakt hinzugefügten Komponenten — jederzeit nachvollziehbar.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A34A"/>
                </a:solidFill>
                <a:latin typeface="Segoe UI"/>
              </a:rPr>
              <a:t>BEREICH 2 —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Pre-Flight: Deployment-Fehler abfangen, bevor sie teuer werden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20823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🚦  Deployment Readiness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RetrieveMissingDependencies gegen die Zielumgebung — fehlende Komponenten VOR dem Import, mit „Add to Solution".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2602" y="2020823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8634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📊  Analyze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Deployment-Risk-Score, Severity-Karten und Key-Issues — der Gesamtcheck über die Release-Solution auf einen Blick.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5124" y="2020823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1156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🔧  Env Config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Environment-Variablen &amp; Connection References über alle Umgebungen side-by-side. Leere Werte, ungebundene Refs, Transport-Lücken.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33086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📦  Import History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Import-Logs geparst: Missing-Dependency-Fehler als präzise Tabelle — was fehlt im Ziel, was braucht 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62602" y="4133086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🔀  Dual-Write Maps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Custom Table Maps mit Quell-/Zieltabelle, Richtung und vollständiger Field-Mapping-Ansicht.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5124" y="4133086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1156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🔍  Audit Config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Welche Tabellen/Spalten Auditing aktiv haben und ob die Org-Einstellung es effektiv macht. Governance-Überblick.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BEREICH 3 — 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Der laufende Betrieb — endlich im 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20823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🧵  Plugin Trace Explorer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Plugin- &amp; Custom-API-Traces, Fehler klar von Erfolg getrennt (Exception-Details), Korrelation über Aufrufe.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2602" y="2020823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8634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📡  Job &amp; Flow Monitor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Async-Jobs und Cloud-Flow-Runs überwachen, Fehlerraten je Flow, Trigger-Inputs, Bulk-Cancel/Retry.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5124" y="2020823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1156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🐕  Watchdog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Heartbeat-Monitor für geplante Integrationen: schlägt Alarm, wenn ein Sync gar nicht erst läuft.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33086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🛡  Role Analyzer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Das komplette Security-Modell: wer hat welche Rolle, direkt und team-vererbt.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62602" y="4133086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🗺  Core Roles &amp; Team/BU-Map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Geteilte Privilegien zu Core-Rollen konsolidieren; Org-Struktur als interaktives Chart.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5124" y="4133086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1156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🔐  Field Security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Feldgesicherte Spalten, Profile und ihre Zuweisungen — spalten- und profilzentriert.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FEATURE-SPOTLIGHT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Jeder Check killt einen realen Schmerz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18607" cy="17830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20823"/>
            <a:ext cx="44450" cy="14904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75687"/>
            <a:ext cx="48156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Env Config Cockpit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„Warum läuft der Flow in PROD nicht?"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Ungebundene Connection References und leere Env-Variablen über alle Umgebungen sichtbar — inklusive Zähler, wie viele Flows jede Referenz nutzen (aktiv/inaktiv).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874519"/>
            <a:ext cx="5318607" cy="17830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3007" y="2020823"/>
            <a:ext cx="44450" cy="14904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2075687"/>
            <a:ext cx="48156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Import History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„Der Import ist fehlgeschlagen — warum?"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Das Import-Log wird geparst: fehlende Abhängigkeit links, abhängige Komponente rechts. Kein XML-Wühlen mehr.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79"/>
            <a:ext cx="5318607" cy="17830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986783"/>
            <a:ext cx="44450" cy="14904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7"/>
            <a:ext cx="48156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Deployment Readiness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„Wird das durchgehen?"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Prüft die Release-Solution gegen das Ziel-Environment und listet fehlende Komponenten — konservativ, unknown ≠ grün.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3840479"/>
            <a:ext cx="5318607" cy="17830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3007" y="3986783"/>
            <a:ext cx="44450" cy="149047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7327" y="4041647"/>
            <a:ext cx="48156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Role Analyzer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1D48"/>
                </a:solidFill>
                <a:latin typeface="Segoe UI"/>
              </a:rPr>
              <a:t>„Wer kann eigentlich was?"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Das ganze Sicherheitsmodell auf Root-Rollen aggregiert, plus Core-Role-Konsolidierung und Feld-Sicherheit.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D28D9"/>
                </a:solidFill>
                <a:latin typeface="Segoe UI"/>
              </a:rPr>
              <a:t>DIFFERENZIERUNG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Warum die Solution Administration Console?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20823"/>
            <a:ext cx="44450" cy="158191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🏠  In Ihrer Umgebung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Als Code App direkt in Dataverse. Keine externen Server, keine Datenabflüsse, keine Extra-Lizenzen für Fremd-Tools.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2602" y="2020823"/>
            <a:ext cx="44450" cy="15819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8634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🛡  Governance by design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Reads als Service Principal, Writes als Person — Dataverse erzwingt Rechte, alles auditierbar.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874519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5124" y="2020823"/>
            <a:ext cx="44450" cy="158191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1156" y="2057399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🔧  Aus der Praxis gebaut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An echten D365-F&amp;O- und CE-Projekten entstanden. Jeder Check adressiert einen real erlebten Schmerz.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133086"/>
            <a:ext cx="44450" cy="1581911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🎯  Ein Cockpit statt fünf Tools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Merge, Pre-Flight, Betrieb und Governance in einer konsistenten Oberfläche.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62602" y="4133086"/>
            <a:ext cx="44450" cy="1581911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⚙  Erweiterbar &amp; mandantenfähig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Konfiguration in Dataverse. Pro Kunde anpassbar, ohne Fork.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3986782"/>
            <a:ext cx="3466490" cy="1874519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5124" y="4133086"/>
            <a:ext cx="44450" cy="158191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1156" y="4169662"/>
            <a:ext cx="3009290" cy="1545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🔒  Read-only-sicher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Der Großteil ist rein lesend; jede schreibende Aktion ist rollen-gegated und bestätigungspflichtig.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891B2"/>
                </a:solidFill>
                <a:latin typeface="Segoe UI"/>
              </a:rPr>
              <a:t>ZIELGRUPPE &amp; NUTZEN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Für wen — und was es bringt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777240" cy="406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Segoe UI"/>
              </a:rPr>
              <a:t>FÜR WEN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556433" cy="15544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556433" cy="444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377440"/>
            <a:ext cx="217238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ALM- &amp; Release-Manager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Planbare, nachvollziehbare Releases.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5113" y="2148840"/>
            <a:ext cx="2556433" cy="15544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5113" y="2148840"/>
            <a:ext cx="2556433" cy="444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26281" y="2377440"/>
            <a:ext cx="217238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D365-Administratoren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Betrieb und Governance an einem 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148840"/>
            <a:ext cx="2556433" cy="15544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147" y="2148840"/>
            <a:ext cx="2556433" cy="444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1315" y="2377440"/>
            <a:ext cx="217238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Solution Architects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Drift, Abhängigkeiten und Struktur im Griff.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5181" y="2148840"/>
            <a:ext cx="2556433" cy="1554480"/>
          </a:xfrm>
          <a:prstGeom prst="roundRect">
            <a:avLst/>
          </a:prstGeom>
          <a:solidFill>
            <a:srgbClr val="FBFCFE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95181" y="2148840"/>
            <a:ext cx="2556433" cy="444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6349" y="2377440"/>
            <a:ext cx="217238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Consulting-Partner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Ein Standard-Werkzeug über alle Kunden.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WAS ES BRINGT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1091153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350">
                <a:solidFill>
                  <a:srgbClr val="0F172A"/>
                </a:solidFill>
                <a:latin typeface="Segoe UI"/>
              </a:rPr>
              <a:t>Weniger fehlgeschlagene Deployments — Pre-Flight-Checks fangen sie ab, bevor UAT/PROD betroffen ist.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350">
                <a:solidFill>
                  <a:srgbClr val="0F172A"/>
                </a:solidFill>
                <a:latin typeface="Segoe UI"/>
              </a:rPr>
              <a:t>Schnellere, planbare Releases durch regelbasiertes Merge und automatische Release Notes.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350">
                <a:solidFill>
                  <a:srgbClr val="0F172A"/>
                </a:solidFill>
                <a:latin typeface="Segoe UI"/>
              </a:rPr>
              <a:t>Ein Werkzeug statt fünf — weniger Kontextwechsel, weniger Onboarding, mehr Reproduzierbarkeit.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350">
                <a:solidFill>
                  <a:srgbClr val="0F172A"/>
                </a:solidFill>
                <a:latin typeface="Segoe UI"/>
              </a:rPr>
              <a:t>Governance &amp; Compliance eingebaut — Rechte pro Person, vollständiger Audit-Trail.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Solution Administration Console   ·   Dynamics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>
            <a:off x="640080" y="777240"/>
            <a:ext cx="914400" cy="914400"/>
          </a:xfrm>
          <a:prstGeom prst="hexag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5B4FC"/>
                </a:solidFill>
                <a:latin typeface="Segoe UI"/>
              </a:rPr>
              <a:t>NÄCHSTER SCHRITT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Sehen Sie Ihren nächsten Release-Zug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Segoe UI"/>
              </a:rPr>
              <a:t>Wir richten die Console in Ihrer DEV-Umgebung ein und gehen mit Ihnen einen echten Merge, einen Pre-Flight-Check und den Betrieb durch — in unter einer Stunde.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00600"/>
            <a:ext cx="100584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Dynamics Pro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9BF7"/>
                </a:solidFill>
                <a:latin typeface="Segoe UI"/>
              </a:rPr>
              <a:t>[Ansprechpartner]   ·   [E-Mail]   ·   [Web]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Office PowerPoint</Application>
  <PresentationFormat>Breitbild</PresentationFormat>
  <Paragraphs>158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Andy Schwarz</cp:lastModifiedBy>
  <cp:revision>2</cp:revision>
  <dcterms:created xsi:type="dcterms:W3CDTF">2013-01-27T09:14:16Z</dcterms:created>
  <dcterms:modified xsi:type="dcterms:W3CDTF">2026-07-07T06:21:25Z</dcterms:modified>
  <cp:category/>
</cp:coreProperties>
</file>